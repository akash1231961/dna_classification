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1A3A"/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6576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6576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0376" y="448056"/>
            <a:ext cx="1188720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4802" y="86868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10078" y="86868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7098" y="950976"/>
            <a:ext cx="835276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68409" y="137160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6471" y="137160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0705" y="1453896"/>
            <a:ext cx="648063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4876" y="187452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0004" y="187452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7172" y="1956816"/>
            <a:ext cx="715129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974" y="237744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4906" y="237744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2270" y="2459736"/>
            <a:ext cx="1004932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1853" y="288036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83027" y="288036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4149" y="2962656"/>
            <a:ext cx="1381174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8989" y="338328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5891" y="338328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1285" y="3465576"/>
            <a:ext cx="1666901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8574" y="388620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56306" y="388620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0870" y="3968496"/>
            <a:ext cx="1727733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911" y="438912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59969" y="4389120"/>
            <a:ext cx="164592" cy="164592"/>
          </a:xfrm>
          <a:prstGeom prst="ellipse">
            <a:avLst/>
          </a:prstGeom>
          <a:solidFill>
            <a:srgbClr val="4DFFD2">
              <a:alpha val="70000"/>
            </a:srgbClr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502920"/>
            <a:ext cx="2286000" cy="320040"/>
          </a:xfrm>
          <a:prstGeom prst="rect">
            <a:avLst/>
          </a:prstGeom>
          <a:solidFill>
            <a:srgbClr val="001A3A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</a:rPr>
              <a:t>BIOINFORMATICS · ML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1051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Classification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411480" y="1874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41148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11480" y="33375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88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interactive Streamlit application for genomic feature analysis,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A88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 classification, and biological pattern recognition.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1480" y="4251960"/>
            <a:ext cx="1920240" cy="685800"/>
          </a:xfrm>
          <a:prstGeom prst="rect">
            <a:avLst/>
          </a:prstGeom>
          <a:solidFill>
            <a:srgbClr val="0D1B3A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1148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DNA Samples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0" y="4251960"/>
            <a:ext cx="1920240" cy="685800"/>
          </a:xfrm>
          <a:prstGeom prst="rect">
            <a:avLst/>
          </a:prstGeom>
          <a:solidFill>
            <a:srgbClr val="0D1B3A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56032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Bio Classes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251960"/>
            <a:ext cx="1920240" cy="685800"/>
          </a:xfrm>
          <a:prstGeom prst="rect">
            <a:avLst/>
          </a:prstGeom>
          <a:solidFill>
            <a:srgbClr val="0D1B3A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70916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Features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4251960"/>
            <a:ext cx="1920240" cy="685800"/>
          </a:xfrm>
          <a:prstGeom prst="rect">
            <a:avLst/>
          </a:prstGeom>
          <a:solidFill>
            <a:srgbClr val="0D1B3A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4251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58000" y="4636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ML Model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35661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interactive bioinformatics web application built with Streamlit and Machine Learning to analyze and classify synthetic DNA samples based on genomic features.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biological category from genomic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27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composition &amp; GC/AT content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112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frequency pattern detection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95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indicator analysis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EDA dashboard with visualizations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23360" cy="1078992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43000"/>
            <a:ext cx="91440" cy="10789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16642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Forest Classifier trained on 9 genomic features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404872"/>
            <a:ext cx="4023360" cy="1078992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04872"/>
            <a:ext cx="91440" cy="107899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3,000 biologically-inspired DNA samples for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666744"/>
            <a:ext cx="4023360" cy="1078992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666744"/>
            <a:ext cx="91440" cy="1078992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803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Bio Classes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4187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· Bacteria · Virus · Plant 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UNDERSTANDING DNA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2560320"/>
          </a:xfrm>
          <a:prstGeom prst="rect">
            <a:avLst/>
          </a:prstGeom>
          <a:solidFill>
            <a:srgbClr val="002A20"/>
          </a:solidFill>
          <a:ln w="19050">
            <a:solidFill>
              <a:srgbClr val="00BF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 with Thymine via 2 hydrogen bonds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920240" cy="2560320"/>
          </a:xfrm>
          <a:prstGeom prst="rect">
            <a:avLst/>
          </a:prstGeom>
          <a:solidFill>
            <a:srgbClr val="00184A"/>
          </a:solidFill>
          <a:ln w="19050">
            <a:solidFill>
              <a:srgbClr val="4A9E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46888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 with Adenine via 2 hydrogen bonds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2560320"/>
          </a:xfrm>
          <a:prstGeom prst="rect">
            <a:avLst/>
          </a:prstGeom>
          <a:solidFill>
            <a:srgbClr val="3A1008"/>
          </a:solidFill>
          <a:ln w="19050">
            <a:solidFill>
              <a:srgbClr val="FF704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 with Guanine via 3 hydrogen bonds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1920240" cy="2560320"/>
          </a:xfrm>
          <a:prstGeom prst="rect">
            <a:avLst/>
          </a:prstGeom>
          <a:solidFill>
            <a:srgbClr val="2A0A30"/>
          </a:solidFill>
          <a:ln w="19050">
            <a:solidFill>
              <a:srgbClr val="AB47B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Pairs with Cytosine via 3 hydrogen bonds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0A1A3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Example Sequence: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72968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48456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23944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99432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4920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50408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25896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01384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76872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927848" y="42062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3,000 Synthetic DNA Samples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solidFill>
            <a:srgbClr val="E8F0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194560" cy="365760"/>
          </a:xfrm>
          <a:prstGeom prst="rect">
            <a:avLst/>
          </a:prstGeom>
          <a:solidFill>
            <a:srgbClr val="D0DE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DNA sample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76756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76756"/>
            <a:ext cx="2194560" cy="365760"/>
          </a:xfrm>
          <a:prstGeom prst="rect">
            <a:avLst/>
          </a:prstGeom>
          <a:solidFill>
            <a:srgbClr val="E0EA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767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4767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 string (A, T, C, G characters)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365760"/>
          </a:xfrm>
          <a:prstGeom prst="rect">
            <a:avLst/>
          </a:prstGeom>
          <a:solidFill>
            <a:srgbClr val="E8F0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2194560" cy="365760"/>
          </a:xfrm>
          <a:prstGeom prst="rect">
            <a:avLst/>
          </a:prstGeom>
          <a:solidFill>
            <a:srgbClr val="D0DE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GC_Content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856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Guanine + Cytosine bases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35708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35708"/>
            <a:ext cx="2194560" cy="365760"/>
          </a:xfrm>
          <a:prstGeom prst="rect">
            <a:avLst/>
          </a:prstGeom>
          <a:solidFill>
            <a:srgbClr val="E0EA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357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AT_Content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2357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Adenine + Thymine bases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8412480" cy="365760"/>
          </a:xfrm>
          <a:prstGeom prst="rect">
            <a:avLst/>
          </a:prstGeom>
          <a:solidFill>
            <a:srgbClr val="E8F0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15184"/>
            <a:ext cx="2194560" cy="365760"/>
          </a:xfrm>
          <a:prstGeom prst="rect">
            <a:avLst/>
          </a:prstGeom>
          <a:solidFill>
            <a:srgbClr val="D0DE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151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Sequence_Length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6151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nucleotides in sequence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9466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994660"/>
            <a:ext cx="2194560" cy="365760"/>
          </a:xfrm>
          <a:prstGeom prst="rect">
            <a:avLst/>
          </a:prstGeom>
          <a:solidFill>
            <a:srgbClr val="E0EA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946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Num_A / T / C / 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29946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nucleotide base counts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74136"/>
            <a:ext cx="8412480" cy="365760"/>
          </a:xfrm>
          <a:prstGeom prst="rect">
            <a:avLst/>
          </a:prstGeom>
          <a:solidFill>
            <a:srgbClr val="E8F0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74136"/>
            <a:ext cx="2194560" cy="365760"/>
          </a:xfrm>
          <a:prstGeom prst="rect">
            <a:avLst/>
          </a:prstGeom>
          <a:solidFill>
            <a:srgbClr val="D0DE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74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kmer_3_freq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3374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3-mer frequency score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53612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753612"/>
            <a:ext cx="2194560" cy="365760"/>
          </a:xfrm>
          <a:prstGeom prst="rect">
            <a:avLst/>
          </a:prstGeom>
          <a:solidFill>
            <a:srgbClr val="E0EA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536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Mutation_Flag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7536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mutation indicator (0 = None, 1 = Present)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8412480" cy="365760"/>
          </a:xfrm>
          <a:prstGeom prst="rect">
            <a:avLst/>
          </a:prstGeom>
          <a:solidFill>
            <a:srgbClr val="E8F0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33088"/>
            <a:ext cx="2194560" cy="365760"/>
          </a:xfrm>
          <a:prstGeom prst="rect">
            <a:avLst/>
          </a:prstGeom>
          <a:solidFill>
            <a:srgbClr val="D0DE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133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Class_Label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4133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class: Human / Bacteria / Virus / Plant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51256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512564"/>
            <a:ext cx="2194560" cy="365760"/>
          </a:xfrm>
          <a:prstGeom prst="rect">
            <a:avLst/>
          </a:prstGeom>
          <a:solidFill>
            <a:srgbClr val="E0EA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5125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Disease_Risk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51760" y="45125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category: Low / Medium / High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1097280"/>
            <a:ext cx="21945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1097280"/>
            <a:ext cx="6217920" cy="365760"/>
          </a:xfrm>
          <a:prstGeom prst="rect">
            <a:avLst/>
          </a:prstGeom>
          <a:solidFill>
            <a:srgbClr val="0A8070"/>
          </a:solidFill>
          <a:ln w="12700">
            <a:solidFill>
              <a:srgbClr val="0A8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51760" y="1097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Feature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965960"/>
            <a:ext cx="1737360" cy="411480"/>
          </a:xfrm>
          <a:prstGeom prst="rect">
            <a:avLst/>
          </a:prstGeom>
          <a:solidFill>
            <a:srgbClr val="0A1230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= (G+C) / Total × 100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Indicates DNA thermal stability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18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GC → more stable 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Distinct per organism 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1325880"/>
            <a:ext cx="196596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325880"/>
            <a:ext cx="196596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Content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78608" y="1965960"/>
            <a:ext cx="1737360" cy="411480"/>
          </a:xfrm>
          <a:prstGeom prst="rect">
            <a:avLst/>
          </a:prstGeom>
          <a:solidFill>
            <a:srgbClr val="0A1230"/>
          </a:solidFill>
          <a:ln w="635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= (A+T) / Total × 100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670048"/>
            <a:ext cx="128016" cy="12801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Complements GC content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3328416"/>
            <a:ext cx="128016" cy="12801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3218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Identifies genomic composition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3986784"/>
            <a:ext cx="128016" cy="12801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+ GC = 100%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1325880"/>
            <a:ext cx="196596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325880"/>
            <a:ext cx="196596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Frequency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27448" y="1965960"/>
            <a:ext cx="1737360" cy="411480"/>
          </a:xfrm>
          <a:prstGeom prst="rect">
            <a:avLst/>
          </a:prstGeom>
          <a:solidFill>
            <a:srgbClr val="0A1230"/>
          </a:solidFill>
          <a:ln w="6350">
            <a:solidFill>
              <a:srgbClr val="7C5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5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3-mers: ATC, TCG, CGG...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70048"/>
            <a:ext cx="128016" cy="128016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local sequence patterns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328416"/>
            <a:ext cx="128016" cy="128016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218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Used in genome classification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986784"/>
            <a:ext cx="128016" cy="128016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3-mer avg frequency 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66560" y="1325880"/>
            <a:ext cx="196596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1325880"/>
            <a:ext cx="1965960" cy="73152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Flag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76288" y="1965960"/>
            <a:ext cx="1737360" cy="411480"/>
          </a:xfrm>
          <a:prstGeom prst="rect">
            <a:avLst/>
          </a:prstGeom>
          <a:solidFill>
            <a:srgbClr val="0A1230"/>
          </a:solidFill>
          <a:ln w="6350">
            <a:solidFill>
              <a:srgbClr val="FF5F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Binary: 0 (None) or 1 (Present)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2670048"/>
            <a:ext cx="128016" cy="128016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04888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Indicates genomic mutations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03720" y="3328416"/>
            <a:ext cx="128016" cy="128016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04888" y="3218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Alters biological behavior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03720" y="3986784"/>
            <a:ext cx="128016" cy="128016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488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classification signal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ML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 Classifier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Prediction 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347472" cy="34747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inputs genomic feature values into the Streamlit 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68296"/>
            <a:ext cx="347472" cy="34747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 are normalized and converted to numeric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47472" cy="34747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9626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Trained Random Forest model processes the 9 input features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347472" cy="34747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5753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compares genomic patterns from 3,000 training samples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347472" cy="34747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187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Predicted biological class is returned to the user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4023360" cy="1920240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97280"/>
            <a:ext cx="91440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(9)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167335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GC Content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167335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13448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AT Content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208483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Seq. Length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208483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3448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A/T/C/G Counts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249631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2423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K-mer Freq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12280" y="2496312"/>
            <a:ext cx="128016" cy="12801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2423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Mutation Flag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023360" cy="1645920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00400"/>
            <a:ext cx="91440" cy="1645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83480" y="3749040"/>
            <a:ext cx="822960" cy="822960"/>
          </a:xfrm>
          <a:prstGeom prst="rect">
            <a:avLst/>
          </a:prstGeom>
          <a:solidFill>
            <a:srgbClr val="0A1832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</a:rPr>
              <a:t>Human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822960" cy="822960"/>
          </a:xfrm>
          <a:prstGeom prst="rect">
            <a:avLst/>
          </a:prstGeom>
          <a:solidFill>
            <a:srgbClr val="0A1832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EFF"/>
                </a:solidFill>
              </a:rPr>
              <a:t>Bacteria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03720" y="3749040"/>
            <a:ext cx="822960" cy="822960"/>
          </a:xfrm>
          <a:prstGeom prst="rect">
            <a:avLst/>
          </a:prstGeom>
          <a:solidFill>
            <a:srgbClr val="0A1832"/>
          </a:solidFill>
          <a:ln w="19050">
            <a:solidFill>
              <a:srgbClr val="FF5F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F6D"/>
                </a:solidFill>
              </a:rPr>
              <a:t>Virus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63840" y="3749040"/>
            <a:ext cx="822960" cy="822960"/>
          </a:xfrm>
          <a:prstGeom prst="rect">
            <a:avLst/>
          </a:prstGeom>
          <a:solidFill>
            <a:srgbClr val="0A1832"/>
          </a:solidFill>
          <a:ln w="19050">
            <a:solidFill>
              <a:srgbClr val="7BC6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C67E"/>
                </a:solidFill>
              </a:rPr>
              <a:t>Plant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840480" cy="640080"/>
          </a:xfrm>
          <a:prstGeom prst="rect">
            <a:avLst/>
          </a:prstGeom>
          <a:solidFill>
            <a:srgbClr val="0D1B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DNA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340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ML-powered prediction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840480" cy="640080"/>
          </a:xfrm>
          <a:prstGeom prst="rect">
            <a:avLst/>
          </a:prstGeom>
          <a:solidFill>
            <a:srgbClr val="0D1B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Interactive 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118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Visual data exploration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840480" cy="640080"/>
          </a:xfrm>
          <a:prstGeom prst="rect">
            <a:avLst/>
          </a:prstGeom>
          <a:solidFill>
            <a:srgbClr val="0D1B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Prediction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Random Forest classification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840480" cy="640080"/>
          </a:xfrm>
          <a:prstGeom prst="rect">
            <a:avLst/>
          </a:prstGeom>
          <a:solidFill>
            <a:srgbClr val="0D1B3A"/>
          </a:solidFill>
          <a:ln w="6350">
            <a:solidFill>
              <a:srgbClr val="1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43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Bioinformatics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672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Genomic feature deep-dive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298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182880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1828800"/>
            <a:ext cx="73152" cy="59436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182880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828800"/>
            <a:ext cx="73152" cy="5943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260604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606040"/>
            <a:ext cx="73152" cy="59436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03720" y="260604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2606040"/>
            <a:ext cx="73152" cy="594360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338328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383280"/>
            <a:ext cx="73152" cy="594360"/>
          </a:xfrm>
          <a:prstGeom prst="rect">
            <a:avLst/>
          </a:prstGeom>
          <a:solidFill>
            <a:srgbClr val="3D4DB7"/>
          </a:solidFill>
          <a:ln w="12700">
            <a:solidFill>
              <a:srgbClr val="3D4D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6632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Plotly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03720" y="338328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383280"/>
            <a:ext cx="73152" cy="594360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416052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4160520"/>
            <a:ext cx="73152" cy="594360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56632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03720" y="4160520"/>
            <a:ext cx="1828800" cy="594360"/>
          </a:xfrm>
          <a:prstGeom prst="rect">
            <a:avLst/>
          </a:prstGeom>
          <a:solidFill>
            <a:srgbClr val="0D1B3A"/>
          </a:solidFill>
          <a:ln w="10160">
            <a:solidFill>
              <a:srgbClr val="1A3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4160520"/>
            <a:ext cx="73152" cy="59436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Joblib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Structure &amp;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794760"/>
          </a:xfrm>
          <a:prstGeom prst="rect">
            <a:avLst/>
          </a:prstGeom>
          <a:solidFill>
            <a:srgbClr val="0D1B4B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DNA_Classification/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436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train_model.py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026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requirements.txt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model.pkl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5615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label_encoder.pkl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941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Dataset/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43205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synthetic_dna_dataset.csv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700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pages/  →  1_EDA.py,  2_Prediction.py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73152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068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09928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709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441448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41448"/>
            <a:ext cx="73152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532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40680" y="2532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3008376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train_model.py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739896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739896"/>
            <a:ext cx="73152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31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4068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4306824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3068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EDA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Human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011680"/>
            <a:ext cx="3040380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630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760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679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Bacteria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2724912"/>
            <a:ext cx="2968371" cy="25603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4291" y="26791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742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Virus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3438144"/>
            <a:ext cx="3020378" cy="256032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6297" y="33924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</a:rPr>
              <a:t>755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1056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Plant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4151376"/>
            <a:ext cx="2972372" cy="256032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8291" y="41056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C67E"/>
                </a:solidFill>
              </a:rPr>
              <a:t>743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4023360" cy="3566160"/>
          </a:xfrm>
          <a:prstGeom prst="rect">
            <a:avLst/>
          </a:prstGeom>
          <a:solidFill>
            <a:srgbClr val="131B3A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Distribution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103120"/>
            <a:ext cx="1212494" cy="502920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5974" y="2103120"/>
            <a:ext cx="1355141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1115" y="2103120"/>
            <a:ext cx="998525" cy="502920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2926080"/>
            <a:ext cx="201168" cy="20116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</a:rPr>
              <a:t>Low Risk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BC67E"/>
                </a:solidFill>
              </a:rPr>
              <a:t>34%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74920" y="3520440"/>
            <a:ext cx="201168" cy="2011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</a:rPr>
              <a:t>Medium Risk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38%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74920" y="4114800"/>
            <a:ext cx="201168" cy="201168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C7"/>
                </a:solidFill>
              </a:rPr>
              <a:t>High Risk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5528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F6D"/>
                </a:solidFill>
              </a:rPr>
              <a:t>28%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GC vs AT Content · Feature Exploration · Nucleotide Distributions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7315200" cy="7315200"/>
          </a:xfrm>
          <a:prstGeom prst="ellipse">
            <a:avLst/>
          </a:prstGeom>
          <a:solidFill>
            <a:srgbClr val="060C1E"/>
          </a:solidFill>
          <a:ln w="12700">
            <a:solidFill>
              <a:srgbClr val="060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457200"/>
            <a:ext cx="5486400" cy="5486400"/>
          </a:xfrm>
          <a:prstGeom prst="ellipse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C2A8"/>
                </a:solidFill>
              </a:rPr>
              <a:t>THANK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Classification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using ML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with Streamlit · Scikit-learn ·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3,000 synthetic DNA samples with 13 genomic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21024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295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Forest model for 4-class biological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044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EDA with class &amp; disease risk visualizations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9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Practical demo of ML in bioinformatics &amp; genomics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617720"/>
            <a:ext cx="5943600" cy="365760"/>
          </a:xfrm>
          <a:prstGeom prst="rect">
            <a:avLst/>
          </a:prstGeom>
          <a:solidFill>
            <a:srgbClr val="0D1B3A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17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https://akash1231961-dna-classification-app-nrqzto.streamlit.app/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Classification and Analysis using Machine Learning</dc:title>
  <dc:subject>PptxGenJS Presentation</dc:subject>
  <dc:creator>PptxGenJS</dc:creator>
  <cp:lastModifiedBy>PptxGenJS</cp:lastModifiedBy>
  <cp:revision>1</cp:revision>
  <dcterms:created xsi:type="dcterms:W3CDTF">2026-05-15T06:32:30Z</dcterms:created>
  <dcterms:modified xsi:type="dcterms:W3CDTF">2026-05-15T06:32:30Z</dcterms:modified>
</cp:coreProperties>
</file>